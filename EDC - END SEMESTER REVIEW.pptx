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6" r:id="rId3"/>
    <p:sldId id="257" r:id="rId4"/>
    <p:sldId id="258" r:id="rId5"/>
    <p:sldId id="259" r:id="rId6"/>
    <p:sldId id="265" r:id="rId7"/>
    <p:sldId id="261" r:id="rId8"/>
    <p:sldId id="266" r:id="rId9"/>
    <p:sldId id="262" r:id="rId10"/>
    <p:sldId id="268" r:id="rId11"/>
    <p:sldId id="269" r:id="rId12"/>
    <p:sldId id="270"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6DFF9-F1D8-A430-C515-3FAA41426A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41EE39-DD16-65A5-B1B7-DAA5A1480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5D3E92-DC70-CC1B-8C9E-98BF8882FCA0}"/>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3DF10ED5-58AA-B25D-0BFA-2D3BC5C26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03F466-24FD-7B4D-E107-284955E6F6B7}"/>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3633124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E2F03-082C-B276-6184-2C80F1F33F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5C6D07-18D2-6935-F8BD-362147386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19C456-003C-D02B-5965-D6389A50536F}"/>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74BDE207-7194-0E71-7C75-9284A92D4E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436096-6A71-BF0B-178D-99A86A0A5CBF}"/>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731716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1D17-9E21-64CB-E842-8112F016CF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0C251D-EFDB-E35A-1427-6BBD5AE871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B9AB0E-67B9-4B69-1202-41448AD9D4A4}"/>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4011F8F5-7FE7-B79D-27F8-C5EF4294C9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371EEE-739F-AC37-589F-8667C7EA6D67}"/>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300078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4CC57-8E37-62B4-0434-C0D00F441B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4E42F5-9DFE-74F4-7C17-3C4903F700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C72FE6-90C3-58F9-E684-630E85BACF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000FD7-7D25-E6F2-F556-A10417CAD776}"/>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6" name="Footer Placeholder 5">
            <a:extLst>
              <a:ext uri="{FF2B5EF4-FFF2-40B4-BE49-F238E27FC236}">
                <a16:creationId xmlns:a16="http://schemas.microsoft.com/office/drawing/2014/main" id="{AA7742C6-19CF-9C7B-5AB3-3309F33E4F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ABC8AB-F1A5-42CA-91E5-743C7354BB03}"/>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62472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3B2A-A791-7928-9C3A-369575126C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B287AE-3835-0B5D-D94D-B74071A76D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402530-0450-D14A-F695-C2F0D3D6A7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E963F1-46CE-22D3-3AB1-3414E1E1B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EA6F1-5B0D-125F-7F42-5ABEAB4CBF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B925AC-4E0D-E75D-897D-CEF222DD2076}"/>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8" name="Footer Placeholder 7">
            <a:extLst>
              <a:ext uri="{FF2B5EF4-FFF2-40B4-BE49-F238E27FC236}">
                <a16:creationId xmlns:a16="http://schemas.microsoft.com/office/drawing/2014/main" id="{7348D60F-AA8C-7353-5198-E84FCC7250F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FB8117-6D85-7FA9-D4B8-9F64819F36F4}"/>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386050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D866-E504-F214-70BF-AC141988D6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EAA6F3-758D-24AE-E73F-76E56499829E}"/>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4" name="Footer Placeholder 3">
            <a:extLst>
              <a:ext uri="{FF2B5EF4-FFF2-40B4-BE49-F238E27FC236}">
                <a16:creationId xmlns:a16="http://schemas.microsoft.com/office/drawing/2014/main" id="{618234CE-3C5B-077F-63F7-CD66A1B22C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15CF93-948B-DE31-BC2A-E51588549484}"/>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270779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2E1921-B241-9C0E-6995-8EC33AAB03A3}"/>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3" name="Footer Placeholder 2">
            <a:extLst>
              <a:ext uri="{FF2B5EF4-FFF2-40B4-BE49-F238E27FC236}">
                <a16:creationId xmlns:a16="http://schemas.microsoft.com/office/drawing/2014/main" id="{6D30604A-665B-F5D1-934A-1EF66AA9FC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763714-7F23-9C21-6D60-E47ED140A6BA}"/>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144822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F11D-6FFA-BA99-4F69-D530D6F396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4306EB-66B5-ED76-E586-9B6F69D0F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D6CC07-B923-0FDB-AC44-069BDFC09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512B7-49A3-811B-5D97-22DECF22E546}"/>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6" name="Footer Placeholder 5">
            <a:extLst>
              <a:ext uri="{FF2B5EF4-FFF2-40B4-BE49-F238E27FC236}">
                <a16:creationId xmlns:a16="http://schemas.microsoft.com/office/drawing/2014/main" id="{AE177F39-84CF-D35A-2398-40CF6CCE14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B6E81F-4BFD-4025-DE20-FED260B3C3AB}"/>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1774063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07A15-B5D5-67E3-9C2E-6FD9C81B1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B553D2-6DF6-F535-7987-B21524EADD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56342F-25D4-084D-048A-2C1C2A50D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BEC15F-EED9-126C-9550-7189C315A7AA}"/>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6" name="Footer Placeholder 5">
            <a:extLst>
              <a:ext uri="{FF2B5EF4-FFF2-40B4-BE49-F238E27FC236}">
                <a16:creationId xmlns:a16="http://schemas.microsoft.com/office/drawing/2014/main" id="{8048A936-C0BA-FAA7-498D-2DE24ECC69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A14FD4-929E-8AA7-36A6-A8237C8BBD9D}"/>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74701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0397-4E81-C7CA-1AA0-3D337AEFF9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0CB72A-FE18-8676-B635-68B70A73D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B8CAAC-96A2-16B2-D576-0AC9FEFA526E}"/>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3B30670F-7ABD-A3D2-A73F-39B637D4FA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F2220-69DC-CBD7-32F1-0DB61E2BBC14}"/>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1123201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AED603-0AE8-5295-81BE-4F9C5FA74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B59FFC-3C6D-6B51-31AC-4B19211DE4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867F90-6B1E-E784-85EE-B63FBDFECB07}"/>
              </a:ext>
            </a:extLst>
          </p:cNvPr>
          <p:cNvSpPr>
            <a:spLocks noGrp="1"/>
          </p:cNvSpPr>
          <p:nvPr>
            <p:ph type="dt" sz="half" idx="10"/>
          </p:nvPr>
        </p:nvSpPr>
        <p:spPr/>
        <p:txBody>
          <a:body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2C2654C5-5CED-FC52-ED47-FAD5C0F74B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ABE96-29CA-C4CE-3298-0870C779B4D5}"/>
              </a:ext>
            </a:extLst>
          </p:cNvPr>
          <p:cNvSpPr>
            <a:spLocks noGrp="1"/>
          </p:cNvSpPr>
          <p:nvPr>
            <p:ph type="sldNum" sz="quarter" idx="12"/>
          </p:nvPr>
        </p:nvSpPr>
        <p:spPr/>
        <p:txBody>
          <a:bodyPr/>
          <a:lstStyle/>
          <a:p>
            <a:fld id="{118475CF-5928-4F3E-BFB0-F654B5B07D1B}" type="slidenum">
              <a:rPr lang="en-IN" smtClean="0"/>
              <a:t>‹#›</a:t>
            </a:fld>
            <a:endParaRPr lang="en-IN"/>
          </a:p>
        </p:txBody>
      </p:sp>
    </p:spTree>
    <p:extLst>
      <p:ext uri="{BB962C8B-B14F-4D97-AF65-F5344CB8AC3E}">
        <p14:creationId xmlns:p14="http://schemas.microsoft.com/office/powerpoint/2010/main" val="4276324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CAD53E-4190-875A-724F-285E48F9F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6134D8-3194-831C-A3ED-B5AD2D3D1E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0BE0D3-A803-76AD-D8C0-4CC444252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3371C4-4A64-4FB6-A9EA-221C2B98C5C3}" type="datetimeFigureOut">
              <a:rPr lang="en-IN" smtClean="0"/>
              <a:t>12-12-2025</a:t>
            </a:fld>
            <a:endParaRPr lang="en-IN"/>
          </a:p>
        </p:txBody>
      </p:sp>
      <p:sp>
        <p:nvSpPr>
          <p:cNvPr id="5" name="Footer Placeholder 4">
            <a:extLst>
              <a:ext uri="{FF2B5EF4-FFF2-40B4-BE49-F238E27FC236}">
                <a16:creationId xmlns:a16="http://schemas.microsoft.com/office/drawing/2014/main" id="{603F4645-C9E9-AAEB-D559-267AB6893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905A12E-02BD-9148-F109-75FBF2286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8475CF-5928-4F3E-BFB0-F654B5B07D1B}" type="slidenum">
              <a:rPr lang="en-IN" smtClean="0"/>
              <a:t>‹#›</a:t>
            </a:fld>
            <a:endParaRPr lang="en-IN"/>
          </a:p>
        </p:txBody>
      </p:sp>
    </p:spTree>
    <p:extLst>
      <p:ext uri="{BB962C8B-B14F-4D97-AF65-F5344CB8AC3E}">
        <p14:creationId xmlns:p14="http://schemas.microsoft.com/office/powerpoint/2010/main" val="1004552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9015" y="1924303"/>
            <a:ext cx="6993255" cy="391160"/>
          </a:xfrm>
          <a:prstGeom prst="rect">
            <a:avLst/>
          </a:prstGeom>
        </p:spPr>
        <p:txBody>
          <a:bodyPr vert="horz" wrap="square" lIns="0" tIns="12700" rIns="0" bIns="0" rtlCol="0" anchor="ctr">
            <a:spAutoFit/>
          </a:bodyPr>
          <a:lstStyle/>
          <a:p>
            <a:pPr marL="12700" algn="ctr">
              <a:lnSpc>
                <a:spcPct val="100000"/>
              </a:lnSpc>
              <a:spcBef>
                <a:spcPts val="100"/>
              </a:spcBef>
            </a:pPr>
            <a:r>
              <a:rPr sz="2400" spc="-10" dirty="0">
                <a:latin typeface="Times New Roman" panose="02020603050405020304" pitchFamily="18" charset="0"/>
                <a:cs typeface="Times New Roman" panose="02020603050405020304" pitchFamily="18" charset="0"/>
              </a:rPr>
              <a:t>Department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Electrical</a:t>
            </a:r>
            <a:r>
              <a:rPr sz="2400" spc="-1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Electronics</a:t>
            </a:r>
            <a:r>
              <a:rPr sz="2400" spc="-1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Engineering</a:t>
            </a:r>
            <a:endParaRPr sz="2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187445" y="2729230"/>
            <a:ext cx="5825490" cy="3370923"/>
          </a:xfrm>
          <a:prstGeom prst="rect">
            <a:avLst/>
          </a:prstGeom>
        </p:spPr>
        <p:txBody>
          <a:bodyPr vert="horz" wrap="square" lIns="0" tIns="12700" rIns="0" bIns="0" rtlCol="0">
            <a:spAutoFit/>
          </a:bodyPr>
          <a:lstStyle/>
          <a:p>
            <a:pPr algn="ctr">
              <a:spcBef>
                <a:spcPts val="100"/>
              </a:spcBef>
            </a:pPr>
            <a:r>
              <a:rPr sz="2400" b="1" dirty="0">
                <a:latin typeface="Times New Roman"/>
                <a:cs typeface="Times New Roman"/>
              </a:rPr>
              <a:t>EEB1204-</a:t>
            </a:r>
            <a:r>
              <a:rPr sz="2400" b="1" spc="-10" dirty="0">
                <a:latin typeface="Times New Roman"/>
                <a:cs typeface="Times New Roman"/>
              </a:rPr>
              <a:t>Minor</a:t>
            </a:r>
            <a:r>
              <a:rPr sz="2400" b="1" spc="-180" dirty="0">
                <a:latin typeface="Times New Roman"/>
                <a:cs typeface="Times New Roman"/>
              </a:rPr>
              <a:t> </a:t>
            </a:r>
            <a:r>
              <a:rPr sz="2400" b="1" spc="-10" dirty="0">
                <a:latin typeface="Times New Roman"/>
                <a:cs typeface="Times New Roman"/>
              </a:rPr>
              <a:t>Project</a:t>
            </a:r>
            <a:r>
              <a:rPr sz="2400" b="1" spc="-40" dirty="0">
                <a:latin typeface="Times New Roman"/>
                <a:cs typeface="Times New Roman"/>
              </a:rPr>
              <a:t> </a:t>
            </a:r>
            <a:r>
              <a:rPr sz="2400" b="1" spc="-25" dirty="0">
                <a:latin typeface="Times New Roman"/>
                <a:cs typeface="Times New Roman"/>
              </a:rPr>
              <a:t>IV</a:t>
            </a:r>
            <a:endParaRPr sz="2400" dirty="0">
              <a:latin typeface="Times New Roman"/>
              <a:cs typeface="Times New Roman"/>
            </a:endParaRPr>
          </a:p>
          <a:p>
            <a:pPr>
              <a:spcBef>
                <a:spcPts val="250"/>
              </a:spcBef>
            </a:pPr>
            <a:endParaRPr sz="2400" dirty="0">
              <a:latin typeface="Times New Roman"/>
              <a:cs typeface="Times New Roman"/>
            </a:endParaRPr>
          </a:p>
          <a:p>
            <a:pPr marL="12700" marR="5080" algn="ctr">
              <a:lnSpc>
                <a:spcPct val="150000"/>
              </a:lnSpc>
              <a:tabLst>
                <a:tab pos="3415665" algn="l"/>
                <a:tab pos="3649345" algn="l"/>
              </a:tabLst>
            </a:pPr>
            <a:r>
              <a:rPr sz="2200" b="1" spc="-25" dirty="0">
                <a:latin typeface="Times New Roman"/>
                <a:cs typeface="Times New Roman"/>
              </a:rPr>
              <a:t>Academic</a:t>
            </a:r>
            <a:r>
              <a:rPr sz="2200" b="1" spc="-35" dirty="0">
                <a:latin typeface="Times New Roman"/>
                <a:cs typeface="Times New Roman"/>
              </a:rPr>
              <a:t> </a:t>
            </a:r>
            <a:r>
              <a:rPr sz="2200" b="1" spc="-125" dirty="0">
                <a:latin typeface="Times New Roman"/>
                <a:cs typeface="Times New Roman"/>
              </a:rPr>
              <a:t>Year</a:t>
            </a:r>
            <a:r>
              <a:rPr sz="2200" b="1" spc="-135" dirty="0">
                <a:latin typeface="Times New Roman"/>
                <a:cs typeface="Times New Roman"/>
              </a:rPr>
              <a:t> </a:t>
            </a:r>
            <a:r>
              <a:rPr sz="2200" b="1" spc="-10" dirty="0">
                <a:latin typeface="Times New Roman"/>
                <a:cs typeface="Times New Roman"/>
              </a:rPr>
              <a:t>(2025-2026)</a:t>
            </a:r>
            <a:r>
              <a:rPr sz="2200" b="1" dirty="0">
                <a:latin typeface="Times New Roman"/>
                <a:cs typeface="Times New Roman"/>
              </a:rPr>
              <a:t>	</a:t>
            </a:r>
            <a:r>
              <a:rPr sz="2200" b="1" spc="-60" dirty="0">
                <a:latin typeface="Times New Roman"/>
                <a:cs typeface="Times New Roman"/>
              </a:rPr>
              <a:t>-</a:t>
            </a:r>
            <a:r>
              <a:rPr sz="2200" b="1" dirty="0">
                <a:latin typeface="Times New Roman"/>
                <a:cs typeface="Times New Roman"/>
              </a:rPr>
              <a:t>	Batch</a:t>
            </a:r>
            <a:r>
              <a:rPr sz="2200" b="1" spc="-95" dirty="0">
                <a:latin typeface="Times New Roman"/>
                <a:cs typeface="Times New Roman"/>
              </a:rPr>
              <a:t> </a:t>
            </a:r>
            <a:r>
              <a:rPr sz="2200" b="1" spc="-10" dirty="0">
                <a:latin typeface="Times New Roman"/>
                <a:cs typeface="Times New Roman"/>
              </a:rPr>
              <a:t>(2024-2028) II</a:t>
            </a:r>
            <a:r>
              <a:rPr sz="2200" b="1" spc="-185" dirty="0">
                <a:latin typeface="Times New Roman"/>
                <a:cs typeface="Times New Roman"/>
              </a:rPr>
              <a:t> </a:t>
            </a:r>
            <a:r>
              <a:rPr sz="2200" b="1" spc="-125" dirty="0">
                <a:latin typeface="Times New Roman"/>
                <a:cs typeface="Times New Roman"/>
              </a:rPr>
              <a:t>Year</a:t>
            </a:r>
            <a:r>
              <a:rPr sz="2200" b="1" spc="-165" dirty="0">
                <a:latin typeface="Times New Roman"/>
                <a:cs typeface="Times New Roman"/>
              </a:rPr>
              <a:t> </a:t>
            </a:r>
            <a:r>
              <a:rPr sz="2200" b="1" dirty="0">
                <a:latin typeface="Times New Roman"/>
                <a:cs typeface="Times New Roman"/>
              </a:rPr>
              <a:t>B</a:t>
            </a:r>
            <a:r>
              <a:rPr sz="2200" b="1" spc="-20" dirty="0">
                <a:latin typeface="Times New Roman"/>
                <a:cs typeface="Times New Roman"/>
              </a:rPr>
              <a:t> </a:t>
            </a:r>
            <a:r>
              <a:rPr sz="2200" b="1" spc="-10" dirty="0">
                <a:latin typeface="Times New Roman"/>
                <a:cs typeface="Times New Roman"/>
              </a:rPr>
              <a:t>Section</a:t>
            </a:r>
            <a:endParaRPr sz="2200" dirty="0">
              <a:latin typeface="Times New Roman"/>
              <a:cs typeface="Times New Roman"/>
            </a:endParaRPr>
          </a:p>
          <a:p>
            <a:pPr>
              <a:lnSpc>
                <a:spcPct val="150000"/>
              </a:lnSpc>
              <a:spcBef>
                <a:spcPts val="540"/>
              </a:spcBef>
            </a:pPr>
            <a:endParaRPr sz="2200" dirty="0">
              <a:latin typeface="Times New Roman"/>
              <a:cs typeface="Times New Roman"/>
            </a:endParaRPr>
          </a:p>
          <a:p>
            <a:pPr algn="ctr">
              <a:lnSpc>
                <a:spcPct val="150000"/>
              </a:lnSpc>
            </a:pPr>
            <a:r>
              <a:rPr lang="en-US" sz="2200" b="1" spc="-10" dirty="0">
                <a:latin typeface="Times New Roman"/>
                <a:cs typeface="Times New Roman"/>
              </a:rPr>
              <a:t>End Semester</a:t>
            </a:r>
            <a:r>
              <a:rPr sz="2200" b="1" spc="-95" dirty="0">
                <a:latin typeface="Times New Roman"/>
                <a:cs typeface="Times New Roman"/>
              </a:rPr>
              <a:t> </a:t>
            </a:r>
            <a:r>
              <a:rPr sz="2200" b="1" spc="-10" dirty="0">
                <a:latin typeface="Times New Roman"/>
                <a:cs typeface="Times New Roman"/>
              </a:rPr>
              <a:t>Review</a:t>
            </a:r>
            <a:endParaRPr sz="2200" dirty="0">
              <a:latin typeface="Times New Roman"/>
              <a:cs typeface="Times New Roman"/>
            </a:endParaRPr>
          </a:p>
          <a:p>
            <a:pPr marL="635" algn="ctr">
              <a:lnSpc>
                <a:spcPct val="150000"/>
              </a:lnSpc>
              <a:spcBef>
                <a:spcPts val="290"/>
              </a:spcBef>
            </a:pPr>
            <a:r>
              <a:rPr sz="2200" b="1" dirty="0">
                <a:latin typeface="Times New Roman"/>
                <a:cs typeface="Times New Roman"/>
              </a:rPr>
              <a:t>Date</a:t>
            </a:r>
            <a:r>
              <a:rPr sz="2200" b="1" spc="-85" dirty="0">
                <a:latin typeface="Times New Roman"/>
                <a:cs typeface="Times New Roman"/>
              </a:rPr>
              <a:t> </a:t>
            </a:r>
            <a:r>
              <a:rPr sz="2200" b="1" dirty="0">
                <a:latin typeface="Times New Roman"/>
                <a:cs typeface="Times New Roman"/>
              </a:rPr>
              <a:t>:</a:t>
            </a:r>
            <a:r>
              <a:rPr sz="2200" b="1" spc="-55" dirty="0">
                <a:latin typeface="Times New Roman"/>
                <a:cs typeface="Times New Roman"/>
              </a:rPr>
              <a:t> </a:t>
            </a:r>
            <a:r>
              <a:rPr lang="en-US" sz="2200" b="1" spc="-10" dirty="0">
                <a:latin typeface="Times New Roman"/>
                <a:cs typeface="Times New Roman"/>
              </a:rPr>
              <a:t>13</a:t>
            </a:r>
            <a:r>
              <a:rPr sz="2200" b="1" spc="-10" dirty="0">
                <a:latin typeface="Times New Roman"/>
                <a:cs typeface="Times New Roman"/>
              </a:rPr>
              <a:t>.</a:t>
            </a:r>
            <a:r>
              <a:rPr lang="en-US" sz="2200" b="1" spc="-10" dirty="0">
                <a:latin typeface="Times New Roman"/>
                <a:cs typeface="Times New Roman"/>
              </a:rPr>
              <a:t>12</a:t>
            </a:r>
            <a:r>
              <a:rPr sz="2200" b="1" spc="-10" dirty="0">
                <a:latin typeface="Times New Roman"/>
                <a:cs typeface="Times New Roman"/>
              </a:rPr>
              <a:t>.202</a:t>
            </a:r>
            <a:r>
              <a:rPr lang="en-IN" sz="2200" b="1" spc="-10" dirty="0">
                <a:latin typeface="Times New Roman"/>
                <a:cs typeface="Times New Roman"/>
              </a:rPr>
              <a:t>5</a:t>
            </a:r>
            <a:endParaRPr sz="2200" dirty="0">
              <a:latin typeface="Times New Roman"/>
              <a:cs typeface="Times New Roman"/>
            </a:endParaRPr>
          </a:p>
        </p:txBody>
      </p:sp>
      <p:pic>
        <p:nvPicPr>
          <p:cNvPr id="4" name="object 4"/>
          <p:cNvPicPr/>
          <p:nvPr/>
        </p:nvPicPr>
        <p:blipFill>
          <a:blip r:embed="rId2" cstate="print"/>
          <a:stretch>
            <a:fillRect/>
          </a:stretch>
        </p:blipFill>
        <p:spPr>
          <a:xfrm>
            <a:off x="661219" y="375150"/>
            <a:ext cx="3675888" cy="1239012"/>
          </a:xfrm>
          <a:prstGeom prst="rect">
            <a:avLst/>
          </a:prstGeom>
        </p:spPr>
      </p:pic>
      <p:pic>
        <p:nvPicPr>
          <p:cNvPr id="5" name="object 5"/>
          <p:cNvPicPr/>
          <p:nvPr/>
        </p:nvPicPr>
        <p:blipFill>
          <a:blip r:embed="rId3" cstate="print"/>
          <a:stretch>
            <a:fillRect/>
          </a:stretch>
        </p:blipFill>
        <p:spPr>
          <a:xfrm>
            <a:off x="9404542" y="130316"/>
            <a:ext cx="1438782" cy="12280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1B97F20C-BD36-542C-5D50-AAFF039C2BE9}"/>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TITLE OF THE PROJECT</a:t>
            </a:r>
          </a:p>
        </p:txBody>
      </p:sp>
      <p:sp>
        <p:nvSpPr>
          <p:cNvPr id="14" name="object 3"/>
          <p:cNvSpPr txBox="1"/>
          <p:nvPr/>
        </p:nvSpPr>
        <p:spPr>
          <a:xfrm>
            <a:off x="2368879" y="1941506"/>
            <a:ext cx="737870" cy="454025"/>
          </a:xfrm>
          <a:prstGeom prst="rect">
            <a:avLst/>
          </a:prstGeom>
        </p:spPr>
        <p:txBody>
          <a:bodyPr vert="horz" wrap="square" lIns="0" tIns="13970" rIns="0" bIns="0" rtlCol="0">
            <a:spAutoFit/>
          </a:bodyPr>
          <a:lstStyle/>
          <a:p>
            <a:pPr marL="12700">
              <a:lnSpc>
                <a:spcPct val="100000"/>
              </a:lnSpc>
              <a:spcBef>
                <a:spcPts val="110"/>
              </a:spcBef>
            </a:pPr>
            <a:r>
              <a:rPr sz="2800" b="1" spc="-35" dirty="0">
                <a:latin typeface="Times New Roman"/>
                <a:cs typeface="Times New Roman"/>
              </a:rPr>
              <a:t>T</a:t>
            </a:r>
            <a:r>
              <a:rPr sz="2800" b="1" spc="10" dirty="0">
                <a:latin typeface="Times New Roman"/>
                <a:cs typeface="Times New Roman"/>
              </a:rPr>
              <a:t>i</a:t>
            </a:r>
            <a:r>
              <a:rPr sz="2800" b="1" dirty="0">
                <a:latin typeface="Times New Roman"/>
                <a:cs typeface="Times New Roman"/>
              </a:rPr>
              <a:t>t</a:t>
            </a:r>
            <a:r>
              <a:rPr sz="2800" b="1" spc="10" dirty="0">
                <a:latin typeface="Times New Roman"/>
                <a:cs typeface="Times New Roman"/>
              </a:rPr>
              <a:t>l</a:t>
            </a:r>
            <a:r>
              <a:rPr sz="2800" b="1" dirty="0">
                <a:latin typeface="Times New Roman"/>
                <a:cs typeface="Times New Roman"/>
              </a:rPr>
              <a:t>e</a:t>
            </a:r>
            <a:endParaRPr sz="2800" dirty="0">
              <a:latin typeface="Times New Roman"/>
              <a:cs typeface="Times New Roman"/>
            </a:endParaRPr>
          </a:p>
        </p:txBody>
      </p:sp>
      <p:sp>
        <p:nvSpPr>
          <p:cNvPr id="15" name="object 4"/>
          <p:cNvSpPr txBox="1"/>
          <p:nvPr/>
        </p:nvSpPr>
        <p:spPr>
          <a:xfrm>
            <a:off x="3479682" y="2007256"/>
            <a:ext cx="4617429" cy="384080"/>
          </a:xfrm>
          <a:prstGeom prst="rect">
            <a:avLst/>
          </a:prstGeom>
        </p:spPr>
        <p:txBody>
          <a:bodyPr vert="horz" wrap="square" lIns="0" tIns="14605" rIns="0" bIns="0" rtlCol="0">
            <a:spAutoFit/>
          </a:bodyPr>
          <a:lstStyle/>
          <a:p>
            <a:pPr marL="12700" algn="ctr">
              <a:lnSpc>
                <a:spcPct val="100000"/>
              </a:lnSpc>
              <a:spcBef>
                <a:spcPts val="115"/>
              </a:spcBef>
              <a:tabLst>
                <a:tab pos="286385" algn="l"/>
              </a:tabLst>
            </a:pPr>
            <a:r>
              <a:rPr lang="en-IN" sz="2000" b="1" spc="5" dirty="0">
                <a:latin typeface="Times New Roman"/>
                <a:cs typeface="Times New Roman"/>
              </a:rPr>
              <a:t>              </a:t>
            </a:r>
            <a:r>
              <a:rPr lang="en-IN" sz="2400" b="1" spc="5" dirty="0">
                <a:latin typeface="Times New Roman"/>
                <a:cs typeface="Times New Roman"/>
              </a:rPr>
              <a:t> : </a:t>
            </a:r>
            <a:r>
              <a:rPr lang="en-IN" sz="2100" b="1" spc="5" dirty="0">
                <a:latin typeface="Times New Roman"/>
                <a:cs typeface="Times New Roman"/>
              </a:rPr>
              <a:t>LANDSLIDE DETECTOR</a:t>
            </a:r>
            <a:endParaRPr sz="2100" dirty="0">
              <a:latin typeface="Times New Roman"/>
              <a:cs typeface="Times New Roman"/>
            </a:endParaRPr>
          </a:p>
        </p:txBody>
      </p:sp>
      <p:graphicFrame>
        <p:nvGraphicFramePr>
          <p:cNvPr id="16" name="object 5"/>
          <p:cNvGraphicFramePr>
            <a:graphicFrameLocks noGrp="1"/>
          </p:cNvGraphicFramePr>
          <p:nvPr>
            <p:extLst>
              <p:ext uri="{D42A27DB-BD31-4B8C-83A1-F6EECF244321}">
                <p14:modId xmlns:p14="http://schemas.microsoft.com/office/powerpoint/2010/main" val="936424627"/>
              </p:ext>
            </p:extLst>
          </p:nvPr>
        </p:nvGraphicFramePr>
        <p:xfrm>
          <a:off x="2368879" y="3100821"/>
          <a:ext cx="6996347" cy="1476637"/>
        </p:xfrm>
        <a:graphic>
          <a:graphicData uri="http://schemas.openxmlformats.org/drawingml/2006/table">
            <a:tbl>
              <a:tblPr firstRow="1" bandRow="1">
                <a:tableStyleId>{2D5ABB26-0587-4C30-8999-92F81FD0307C}</a:tableStyleId>
              </a:tblPr>
              <a:tblGrid>
                <a:gridCol w="2419985">
                  <a:extLst>
                    <a:ext uri="{9D8B030D-6E8A-4147-A177-3AD203B41FA5}">
                      <a16:colId xmlns:a16="http://schemas.microsoft.com/office/drawing/2014/main" val="20000"/>
                    </a:ext>
                  </a:extLst>
                </a:gridCol>
                <a:gridCol w="2378852">
                  <a:extLst>
                    <a:ext uri="{9D8B030D-6E8A-4147-A177-3AD203B41FA5}">
                      <a16:colId xmlns:a16="http://schemas.microsoft.com/office/drawing/2014/main" val="20001"/>
                    </a:ext>
                  </a:extLst>
                </a:gridCol>
                <a:gridCol w="2197510">
                  <a:extLst>
                    <a:ext uri="{9D8B030D-6E8A-4147-A177-3AD203B41FA5}">
                      <a16:colId xmlns:a16="http://schemas.microsoft.com/office/drawing/2014/main" val="20002"/>
                    </a:ext>
                  </a:extLst>
                </a:gridCol>
              </a:tblGrid>
              <a:tr h="385723">
                <a:tc>
                  <a:txBody>
                    <a:bodyPr/>
                    <a:lstStyle/>
                    <a:p>
                      <a:pPr marL="31750">
                        <a:lnSpc>
                          <a:spcPts val="2630"/>
                        </a:lnSpc>
                        <a:tabLst>
                          <a:tab pos="2254250" algn="l"/>
                        </a:tabLst>
                      </a:pPr>
                      <a:r>
                        <a:rPr sz="2400" b="1" spc="5" dirty="0">
                          <a:latin typeface="Times New Roman"/>
                          <a:cs typeface="Times New Roman"/>
                        </a:rPr>
                        <a:t>Batch</a:t>
                      </a:r>
                      <a:r>
                        <a:rPr sz="2400" b="1" spc="-60" dirty="0">
                          <a:latin typeface="Times New Roman"/>
                          <a:cs typeface="Times New Roman"/>
                        </a:rPr>
                        <a:t> </a:t>
                      </a:r>
                      <a:r>
                        <a:rPr sz="2400" b="1" spc="-5" dirty="0">
                          <a:latin typeface="Times New Roman"/>
                          <a:cs typeface="Times New Roman"/>
                        </a:rPr>
                        <a:t>Members	</a:t>
                      </a:r>
                      <a:r>
                        <a:rPr sz="2200" b="1" spc="-5" dirty="0">
                          <a:latin typeface="Times New Roman"/>
                          <a:cs typeface="Times New Roman"/>
                        </a:rPr>
                        <a:t>:</a:t>
                      </a:r>
                      <a:endParaRPr sz="2200" dirty="0">
                        <a:latin typeface="Times New Roman"/>
                        <a:cs typeface="Times New Roman"/>
                      </a:endParaRPr>
                    </a:p>
                  </a:txBody>
                  <a:tcPr marL="0" marR="0" marT="0" marB="0"/>
                </a:tc>
                <a:tc>
                  <a:txBody>
                    <a:bodyPr/>
                    <a:lstStyle/>
                    <a:p>
                      <a:pPr marL="72390">
                        <a:lnSpc>
                          <a:spcPts val="2590"/>
                        </a:lnSpc>
                      </a:pPr>
                      <a:r>
                        <a:rPr lang="en-IN" sz="2200" spc="-20" dirty="0" err="1">
                          <a:latin typeface="Times New Roman"/>
                          <a:cs typeface="Times New Roman"/>
                        </a:rPr>
                        <a:t>Piragatheshwaran</a:t>
                      </a:r>
                      <a:r>
                        <a:rPr lang="en-IN" sz="2200" spc="-20" dirty="0">
                          <a:latin typeface="Times New Roman"/>
                          <a:cs typeface="Times New Roman"/>
                        </a:rPr>
                        <a:t> M</a:t>
                      </a:r>
                      <a:endParaRPr sz="2200" dirty="0">
                        <a:latin typeface="Times New Roman"/>
                        <a:cs typeface="Times New Roman"/>
                      </a:endParaRPr>
                    </a:p>
                  </a:txBody>
                  <a:tcPr marL="0" marR="0" marT="0" marB="0"/>
                </a:tc>
                <a:tc>
                  <a:txBody>
                    <a:bodyPr/>
                    <a:lstStyle/>
                    <a:p>
                      <a:pPr marR="45720" algn="r">
                        <a:lnSpc>
                          <a:spcPts val="2590"/>
                        </a:lnSpc>
                      </a:pPr>
                      <a:r>
                        <a:rPr sz="2200" dirty="0">
                          <a:latin typeface="Times New Roman"/>
                          <a:cs typeface="Times New Roman"/>
                        </a:rPr>
                        <a:t>(</a:t>
                      </a:r>
                      <a:r>
                        <a:rPr lang="en-IN" sz="2200" dirty="0">
                          <a:latin typeface="Times New Roman"/>
                          <a:cs typeface="Times New Roman"/>
                        </a:rPr>
                        <a:t>927624BEE072</a:t>
                      </a:r>
                      <a:r>
                        <a:rPr sz="2200" dirty="0">
                          <a:latin typeface="Times New Roman"/>
                          <a:cs typeface="Times New Roman"/>
                        </a:rPr>
                        <a:t>)</a:t>
                      </a:r>
                    </a:p>
                  </a:txBody>
                  <a:tcPr marL="0" marR="0" marT="0" marB="0"/>
                </a:tc>
                <a:extLst>
                  <a:ext uri="{0D108BD9-81ED-4DB2-BD59-A6C34878D82A}">
                    <a16:rowId xmlns:a16="http://schemas.microsoft.com/office/drawing/2014/main" val="10000"/>
                  </a:ext>
                </a:extLst>
              </a:tr>
              <a:tr h="401939">
                <a:tc>
                  <a:txBody>
                    <a:bodyPr/>
                    <a:lstStyle/>
                    <a:p>
                      <a:pPr>
                        <a:lnSpc>
                          <a:spcPct val="100000"/>
                        </a:lnSpc>
                      </a:pPr>
                      <a:endParaRPr sz="2300">
                        <a:latin typeface="Times New Roman"/>
                        <a:cs typeface="Times New Roman"/>
                      </a:endParaRPr>
                    </a:p>
                  </a:txBody>
                  <a:tcPr marL="0" marR="0" marT="0" marB="0"/>
                </a:tc>
                <a:tc>
                  <a:txBody>
                    <a:bodyPr/>
                    <a:lstStyle/>
                    <a:p>
                      <a:pPr marL="81280">
                        <a:lnSpc>
                          <a:spcPct val="100000"/>
                        </a:lnSpc>
                        <a:spcBef>
                          <a:spcPts val="120"/>
                        </a:spcBef>
                      </a:pPr>
                      <a:r>
                        <a:rPr lang="en-IN" sz="2200" spc="-10" dirty="0" err="1">
                          <a:latin typeface="Times New Roman"/>
                          <a:cs typeface="Times New Roman"/>
                        </a:rPr>
                        <a:t>Sanjai</a:t>
                      </a:r>
                      <a:r>
                        <a:rPr lang="en-IN" sz="2200" spc="-10" dirty="0">
                          <a:latin typeface="Times New Roman"/>
                          <a:cs typeface="Times New Roman"/>
                        </a:rPr>
                        <a:t> B</a:t>
                      </a:r>
                      <a:endParaRPr sz="2200" dirty="0">
                        <a:latin typeface="Times New Roman"/>
                        <a:cs typeface="Times New Roman"/>
                      </a:endParaRPr>
                    </a:p>
                  </a:txBody>
                  <a:tcPr marL="0" marR="0" marT="15240" marB="0"/>
                </a:tc>
                <a:tc>
                  <a:txBody>
                    <a:bodyPr/>
                    <a:lstStyle/>
                    <a:p>
                      <a:pPr marR="39370" algn="r">
                        <a:lnSpc>
                          <a:spcPct val="100000"/>
                        </a:lnSpc>
                        <a:spcBef>
                          <a:spcPts val="120"/>
                        </a:spcBef>
                      </a:pPr>
                      <a:r>
                        <a:rPr sz="2200" dirty="0">
                          <a:latin typeface="Times New Roman"/>
                          <a:cs typeface="Times New Roman"/>
                        </a:rPr>
                        <a:t>(</a:t>
                      </a:r>
                      <a:r>
                        <a:rPr lang="en-IN" sz="2200" dirty="0">
                          <a:latin typeface="Times New Roman"/>
                          <a:cs typeface="Times New Roman"/>
                        </a:rPr>
                        <a:t>927624BEE084</a:t>
                      </a:r>
                      <a:r>
                        <a:rPr sz="2200" dirty="0">
                          <a:latin typeface="Times New Roman"/>
                          <a:cs typeface="Times New Roman"/>
                        </a:rPr>
                        <a:t>)</a:t>
                      </a:r>
                    </a:p>
                  </a:txBody>
                  <a:tcPr marL="0" marR="0" marT="15240" marB="0"/>
                </a:tc>
                <a:extLst>
                  <a:ext uri="{0D108BD9-81ED-4DB2-BD59-A6C34878D82A}">
                    <a16:rowId xmlns:a16="http://schemas.microsoft.com/office/drawing/2014/main" val="10001"/>
                  </a:ext>
                </a:extLst>
              </a:tr>
              <a:tr h="355784">
                <a:tc>
                  <a:txBody>
                    <a:bodyPr/>
                    <a:lstStyle/>
                    <a:p>
                      <a:pPr>
                        <a:lnSpc>
                          <a:spcPct val="100000"/>
                        </a:lnSpc>
                      </a:pPr>
                      <a:endParaRPr sz="2200">
                        <a:latin typeface="Times New Roman"/>
                        <a:cs typeface="Times New Roman"/>
                      </a:endParaRPr>
                    </a:p>
                  </a:txBody>
                  <a:tcPr marL="0" marR="0" marT="0" marB="0"/>
                </a:tc>
                <a:tc>
                  <a:txBody>
                    <a:bodyPr/>
                    <a:lstStyle/>
                    <a:p>
                      <a:pPr marL="81280">
                        <a:lnSpc>
                          <a:spcPts val="2575"/>
                        </a:lnSpc>
                        <a:spcBef>
                          <a:spcPts val="125"/>
                        </a:spcBef>
                      </a:pPr>
                      <a:r>
                        <a:rPr lang="en-IN" sz="2200" dirty="0">
                          <a:latin typeface="Times New Roman"/>
                          <a:cs typeface="Times New Roman"/>
                        </a:rPr>
                        <a:t>Shameem I</a:t>
                      </a:r>
                    </a:p>
                    <a:p>
                      <a:pPr marL="81280">
                        <a:lnSpc>
                          <a:spcPts val="2575"/>
                        </a:lnSpc>
                        <a:spcBef>
                          <a:spcPts val="125"/>
                        </a:spcBef>
                      </a:pPr>
                      <a:r>
                        <a:rPr lang="en-IN" sz="2200" dirty="0" err="1">
                          <a:latin typeface="Times New Roman"/>
                          <a:cs typeface="Times New Roman"/>
                        </a:rPr>
                        <a:t>Sibidharan</a:t>
                      </a:r>
                      <a:r>
                        <a:rPr lang="en-IN" sz="2200" dirty="0">
                          <a:latin typeface="Times New Roman"/>
                          <a:cs typeface="Times New Roman"/>
                        </a:rPr>
                        <a:t> R</a:t>
                      </a:r>
                      <a:endParaRPr sz="2200" dirty="0">
                        <a:latin typeface="Times New Roman"/>
                        <a:cs typeface="Times New Roman"/>
                      </a:endParaRPr>
                    </a:p>
                  </a:txBody>
                  <a:tcPr marL="0" marR="0" marT="15875" marB="0"/>
                </a:tc>
                <a:tc>
                  <a:txBody>
                    <a:bodyPr/>
                    <a:lstStyle/>
                    <a:p>
                      <a:pPr marR="24130" algn="r">
                        <a:lnSpc>
                          <a:spcPts val="2575"/>
                        </a:lnSpc>
                        <a:spcBef>
                          <a:spcPts val="125"/>
                        </a:spcBef>
                      </a:pPr>
                      <a:r>
                        <a:rPr sz="2200" dirty="0">
                          <a:latin typeface="Times New Roman"/>
                          <a:cs typeface="Times New Roman"/>
                        </a:rPr>
                        <a:t>(</a:t>
                      </a:r>
                      <a:r>
                        <a:rPr lang="en-IN" sz="2200" dirty="0">
                          <a:latin typeface="Times New Roman"/>
                          <a:cs typeface="Times New Roman"/>
                        </a:rPr>
                        <a:t>927624BEE088</a:t>
                      </a:r>
                      <a:r>
                        <a:rPr sz="2200" dirty="0">
                          <a:latin typeface="Times New Roman"/>
                          <a:cs typeface="Times New Roman"/>
                        </a:rPr>
                        <a:t>)</a:t>
                      </a:r>
                      <a:endParaRPr lang="en-IN" sz="2200" dirty="0">
                        <a:latin typeface="Times New Roman"/>
                        <a:cs typeface="Times New Roman"/>
                      </a:endParaRPr>
                    </a:p>
                    <a:p>
                      <a:pPr marR="24130" algn="r">
                        <a:lnSpc>
                          <a:spcPts val="2575"/>
                        </a:lnSpc>
                        <a:spcBef>
                          <a:spcPts val="125"/>
                        </a:spcBef>
                      </a:pPr>
                      <a:r>
                        <a:rPr lang="en-IN" sz="2200" dirty="0">
                          <a:latin typeface="Times New Roman"/>
                          <a:cs typeface="Times New Roman"/>
                        </a:rPr>
                        <a:t>(927624BEE091)</a:t>
                      </a:r>
                      <a:endParaRPr sz="2200" dirty="0">
                        <a:latin typeface="Times New Roman"/>
                        <a:cs typeface="Times New Roman"/>
                      </a:endParaRPr>
                    </a:p>
                  </a:txBody>
                  <a:tcPr marL="0" marR="0" marT="15875" marB="0"/>
                </a:tc>
                <a:extLst>
                  <a:ext uri="{0D108BD9-81ED-4DB2-BD59-A6C34878D82A}">
                    <a16:rowId xmlns:a16="http://schemas.microsoft.com/office/drawing/2014/main" val="10002"/>
                  </a:ext>
                </a:extLst>
              </a:tr>
            </a:tbl>
          </a:graphicData>
        </a:graphic>
      </p:graphicFrame>
      <p:sp>
        <p:nvSpPr>
          <p:cNvPr id="17" name="object 6"/>
          <p:cNvSpPr txBox="1"/>
          <p:nvPr/>
        </p:nvSpPr>
        <p:spPr>
          <a:xfrm>
            <a:off x="2368879" y="5200627"/>
            <a:ext cx="1653539" cy="393700"/>
          </a:xfrm>
          <a:prstGeom prst="rect">
            <a:avLst/>
          </a:prstGeom>
        </p:spPr>
        <p:txBody>
          <a:bodyPr vert="horz" wrap="square" lIns="0" tIns="14605" rIns="0" bIns="0" rtlCol="0">
            <a:spAutoFit/>
          </a:bodyPr>
          <a:lstStyle/>
          <a:p>
            <a:pPr marL="12700">
              <a:lnSpc>
                <a:spcPct val="100000"/>
              </a:lnSpc>
              <a:spcBef>
                <a:spcPts val="115"/>
              </a:spcBef>
            </a:pPr>
            <a:r>
              <a:rPr sz="2400" b="1" dirty="0">
                <a:latin typeface="Times New Roman"/>
                <a:cs typeface="Times New Roman"/>
              </a:rPr>
              <a:t>Guide</a:t>
            </a:r>
            <a:r>
              <a:rPr sz="2400" b="1" spc="-120" dirty="0">
                <a:latin typeface="Times New Roman"/>
                <a:cs typeface="Times New Roman"/>
              </a:rPr>
              <a:t> </a:t>
            </a:r>
            <a:r>
              <a:rPr sz="2400" b="1" spc="-10" dirty="0">
                <a:latin typeface="Times New Roman"/>
                <a:cs typeface="Times New Roman"/>
              </a:rPr>
              <a:t>Name</a:t>
            </a:r>
            <a:endParaRPr sz="2400" dirty="0">
              <a:latin typeface="Times New Roman"/>
              <a:cs typeface="Times New Roman"/>
            </a:endParaRPr>
          </a:p>
        </p:txBody>
      </p:sp>
      <p:sp>
        <p:nvSpPr>
          <p:cNvPr id="18" name="object 7"/>
          <p:cNvSpPr txBox="1"/>
          <p:nvPr/>
        </p:nvSpPr>
        <p:spPr>
          <a:xfrm>
            <a:off x="4636426" y="5116825"/>
            <a:ext cx="4807458" cy="822789"/>
          </a:xfrm>
          <a:prstGeom prst="rect">
            <a:avLst/>
          </a:prstGeom>
        </p:spPr>
        <p:txBody>
          <a:bodyPr vert="horz" wrap="square" lIns="0" tIns="20955" rIns="0" bIns="0" rtlCol="0">
            <a:spAutoFit/>
          </a:bodyPr>
          <a:lstStyle/>
          <a:p>
            <a:pPr marL="197485" marR="5080" indent="-185420">
              <a:lnSpc>
                <a:spcPct val="118300"/>
              </a:lnSpc>
              <a:spcBef>
                <a:spcPts val="165"/>
              </a:spcBef>
            </a:pPr>
            <a:r>
              <a:rPr lang="en-IN" sz="2400" b="1" dirty="0">
                <a:latin typeface="Times New Roman"/>
                <a:cs typeface="Times New Roman"/>
              </a:rPr>
              <a:t>:</a:t>
            </a:r>
            <a:r>
              <a:rPr lang="en-IN" sz="2400" b="1" spc="5" dirty="0">
                <a:latin typeface="Times New Roman"/>
                <a:cs typeface="Times New Roman"/>
              </a:rPr>
              <a:t> </a:t>
            </a:r>
            <a:r>
              <a:rPr lang="en-IN" sz="2200" spc="-80" dirty="0">
                <a:latin typeface="Times New Roman"/>
                <a:cs typeface="Times New Roman"/>
              </a:rPr>
              <a:t>Dr. B. Rajesh Kumar, </a:t>
            </a:r>
            <a:r>
              <a:rPr lang="en-IN" sz="2200" spc="-20" dirty="0">
                <a:latin typeface="Times New Roman"/>
                <a:cs typeface="Times New Roman"/>
              </a:rPr>
              <a:t>M.E.,</a:t>
            </a:r>
            <a:r>
              <a:rPr lang="en-IN" sz="2200" spc="-20" dirty="0" err="1">
                <a:latin typeface="Times New Roman"/>
                <a:cs typeface="Times New Roman"/>
              </a:rPr>
              <a:t>Ph.D</a:t>
            </a:r>
            <a:r>
              <a:rPr lang="en-IN" sz="2200" spc="-20" dirty="0">
                <a:latin typeface="Times New Roman"/>
                <a:cs typeface="Times New Roman"/>
              </a:rPr>
              <a:t>.,</a:t>
            </a:r>
            <a:r>
              <a:rPr lang="en-IN" sz="2200" spc="-80" dirty="0">
                <a:latin typeface="Times New Roman"/>
                <a:cs typeface="Times New Roman"/>
              </a:rPr>
              <a:t> ASP/EEE</a:t>
            </a:r>
            <a:endParaRPr sz="2200" dirty="0">
              <a:latin typeface="Times New Roman"/>
              <a:cs typeface="Times New Roman"/>
            </a:endParaRPr>
          </a:p>
        </p:txBody>
      </p:sp>
    </p:spTree>
    <p:extLst>
      <p:ext uri="{BB962C8B-B14F-4D97-AF65-F5344CB8AC3E}">
        <p14:creationId xmlns:p14="http://schemas.microsoft.com/office/powerpoint/2010/main" val="153843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4BB9-DFD3-DAD7-A79C-8054E990DF07}"/>
              </a:ext>
            </a:extLst>
          </p:cNvPr>
          <p:cNvSpPr>
            <a:spLocks noGrp="1"/>
          </p:cNvSpPr>
          <p:nvPr>
            <p:ph type="title"/>
          </p:nvPr>
        </p:nvSpPr>
        <p:spPr>
          <a:xfrm>
            <a:off x="838200" y="365125"/>
            <a:ext cx="8202561" cy="1325563"/>
          </a:xfrm>
        </p:spPr>
        <p:txBody>
          <a:bodyPr>
            <a:normAutofit/>
          </a:bodyPr>
          <a:lstStyle/>
          <a:p>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LIST OF CONTENTS </a:t>
            </a:r>
          </a:p>
        </p:txBody>
      </p:sp>
      <p:sp>
        <p:nvSpPr>
          <p:cNvPr id="3" name="Content Placeholder 2">
            <a:extLst>
              <a:ext uri="{FF2B5EF4-FFF2-40B4-BE49-F238E27FC236}">
                <a16:creationId xmlns:a16="http://schemas.microsoft.com/office/drawing/2014/main" id="{2436BB67-62E3-0B64-2671-5E79A862CFD1}"/>
              </a:ext>
            </a:extLst>
          </p:cNvPr>
          <p:cNvSpPr>
            <a:spLocks noGrp="1"/>
          </p:cNvSpPr>
          <p:nvPr>
            <p:ph idx="1"/>
          </p:nvPr>
        </p:nvSpPr>
        <p:spPr>
          <a:xfrm>
            <a:off x="5771535" y="1216818"/>
            <a:ext cx="4938253" cy="4424363"/>
          </a:xfrm>
        </p:spPr>
        <p:txBody>
          <a:bodyPr>
            <a:normAutofit/>
          </a:bodyPr>
          <a:lstStyle/>
          <a:p>
            <a:pPr marL="0" indent="0">
              <a:lnSpc>
                <a:spcPct val="150000"/>
              </a:lnSpc>
              <a:buNone/>
            </a:pPr>
            <a:endParaRPr lang="en-IN"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Advantages</a:t>
            </a:r>
          </a:p>
          <a:p>
            <a:pPr>
              <a:lnSpc>
                <a:spcPct val="150000"/>
              </a:lnSpc>
            </a:pPr>
            <a:r>
              <a:rPr lang="en-IN" sz="2200" dirty="0">
                <a:latin typeface="Times New Roman" panose="02020603050405020304" pitchFamily="18" charset="0"/>
                <a:cs typeface="Times New Roman" panose="02020603050405020304" pitchFamily="18" charset="0"/>
              </a:rPr>
              <a:t>Application</a:t>
            </a:r>
          </a:p>
          <a:p>
            <a:pPr>
              <a:lnSpc>
                <a:spcPct val="150000"/>
              </a:lnSpc>
            </a:pPr>
            <a:r>
              <a:rPr lang="en-IN" sz="2200" dirty="0">
                <a:latin typeface="Times New Roman" panose="02020603050405020304" pitchFamily="18" charset="0"/>
                <a:cs typeface="Times New Roman" panose="02020603050405020304" pitchFamily="18" charset="0"/>
              </a:rPr>
              <a:t>Outcome of the Project</a:t>
            </a:r>
          </a:p>
          <a:p>
            <a:pPr>
              <a:lnSpc>
                <a:spcPct val="150000"/>
              </a:lnSpc>
            </a:pPr>
            <a:r>
              <a:rPr lang="en-IN" sz="2200" dirty="0">
                <a:latin typeface="Times New Roman" panose="02020603050405020304" pitchFamily="18" charset="0"/>
                <a:cs typeface="Times New Roman" panose="02020603050405020304" pitchFamily="18" charset="0"/>
              </a:rPr>
              <a:t>Conclusion</a:t>
            </a:r>
          </a:p>
          <a:p>
            <a:pPr>
              <a:lnSpc>
                <a:spcPct val="150000"/>
              </a:lnSpc>
            </a:pPr>
            <a:r>
              <a:rPr lang="en-IN" sz="2200" dirty="0">
                <a:latin typeface="Times New Roman" panose="02020603050405020304" pitchFamily="18" charset="0"/>
                <a:cs typeface="Times New Roman" panose="02020603050405020304" pitchFamily="18" charset="0"/>
              </a:rPr>
              <a:t>Future Scope</a:t>
            </a:r>
          </a:p>
          <a:p>
            <a:pPr>
              <a:lnSpc>
                <a:spcPct val="150000"/>
              </a:lnSpc>
            </a:pPr>
            <a:endParaRPr lang="en-IN" sz="22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8FCE4621-6A5A-847B-61AC-98CF2A5BAD0D}"/>
              </a:ext>
            </a:extLst>
          </p:cNvPr>
          <p:cNvSpPr txBox="1">
            <a:spLocks/>
          </p:cNvSpPr>
          <p:nvPr/>
        </p:nvSpPr>
        <p:spPr>
          <a:xfrm>
            <a:off x="1676400" y="1453754"/>
            <a:ext cx="10515600" cy="384091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lang="en-IN" dirty="0">
              <a:latin typeface="Times New Roman" panose="02020603050405020304" pitchFamily="18" charset="0"/>
              <a:cs typeface="Times New Roman" panose="02020603050405020304" pitchFamily="18" charset="0"/>
            </a:endParaRPr>
          </a:p>
          <a:p>
            <a:pPr>
              <a:lnSpc>
                <a:spcPct val="170000"/>
              </a:lnSpc>
            </a:pPr>
            <a:r>
              <a:rPr lang="en-IN" sz="3100" dirty="0">
                <a:latin typeface="Times New Roman" panose="02020603050405020304" pitchFamily="18" charset="0"/>
                <a:cs typeface="Times New Roman" panose="02020603050405020304" pitchFamily="18" charset="0"/>
              </a:rPr>
              <a:t>Introduction </a:t>
            </a:r>
          </a:p>
          <a:p>
            <a:pPr>
              <a:lnSpc>
                <a:spcPct val="170000"/>
              </a:lnSpc>
            </a:pPr>
            <a:r>
              <a:rPr lang="en-IN" sz="3100" dirty="0">
                <a:latin typeface="Times New Roman" panose="02020603050405020304" pitchFamily="18" charset="0"/>
                <a:cs typeface="Times New Roman" panose="02020603050405020304" pitchFamily="18" charset="0"/>
              </a:rPr>
              <a:t>Components Used</a:t>
            </a:r>
          </a:p>
          <a:p>
            <a:pPr>
              <a:lnSpc>
                <a:spcPct val="170000"/>
              </a:lnSpc>
            </a:pPr>
            <a:r>
              <a:rPr lang="en-IN" sz="3100" dirty="0">
                <a:latin typeface="Times New Roman" panose="02020603050405020304" pitchFamily="18" charset="0"/>
                <a:cs typeface="Times New Roman" panose="02020603050405020304" pitchFamily="18" charset="0"/>
              </a:rPr>
              <a:t>Block Diagram</a:t>
            </a:r>
          </a:p>
          <a:p>
            <a:pPr>
              <a:lnSpc>
                <a:spcPct val="170000"/>
              </a:lnSpc>
            </a:pPr>
            <a:r>
              <a:rPr lang="en-IN" sz="3100" dirty="0">
                <a:latin typeface="Times New Roman" panose="02020603050405020304" pitchFamily="18" charset="0"/>
                <a:cs typeface="Times New Roman" panose="02020603050405020304" pitchFamily="18" charset="0"/>
              </a:rPr>
              <a:t>Working</a:t>
            </a:r>
          </a:p>
          <a:p>
            <a:pPr>
              <a:lnSpc>
                <a:spcPct val="170000"/>
              </a:lnSpc>
            </a:pPr>
            <a:r>
              <a:rPr lang="en-IN" sz="3100" dirty="0">
                <a:latin typeface="Times New Roman" panose="02020603050405020304" pitchFamily="18" charset="0"/>
                <a:cs typeface="Times New Roman" panose="02020603050405020304" pitchFamily="18" charset="0"/>
              </a:rPr>
              <a:t>Project Overview</a:t>
            </a:r>
          </a:p>
          <a:p>
            <a:pPr marL="0" indent="0">
              <a:lnSpc>
                <a:spcPct val="170000"/>
              </a:lnSpc>
              <a:buNone/>
            </a:pPr>
            <a:endParaRPr lang="en-IN"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7223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8E91-0DB0-11BE-BCE0-76D11A5B249B}"/>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B7A067D-0AD0-335C-09EC-47F1E5FD6D9F}"/>
              </a:ext>
            </a:extLst>
          </p:cNvPr>
          <p:cNvSpPr>
            <a:spLocks noGrp="1"/>
          </p:cNvSpPr>
          <p:nvPr>
            <p:ph idx="1"/>
          </p:nvPr>
        </p:nvSpPr>
        <p:spPr>
          <a:xfrm>
            <a:off x="769374" y="1560154"/>
            <a:ext cx="10515600" cy="4351338"/>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A landslide detection system using IoT continuously monitors soil and environmental conditions to identify early signs of slope failure. Sensors such as the MPU6050 gyroscope, vibration sensor, soil moisture sensor, and rain drop sensor gather real-time data, which is processed by an Arduino Uno and sent to the cloud via an ESP8266 module. If any reading crosses a safety limit, the system triggers a buzzer and displays alerts on an I2C LCD, enabling timely warnings and improved disaster prevention.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758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1A44-7C86-E995-041B-F3E3FB53114C}"/>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COMPONENTS USED</a:t>
            </a:r>
          </a:p>
        </p:txBody>
      </p:sp>
      <p:sp>
        <p:nvSpPr>
          <p:cNvPr id="4" name="Rectangle 1">
            <a:extLst>
              <a:ext uri="{FF2B5EF4-FFF2-40B4-BE49-F238E27FC236}">
                <a16:creationId xmlns:a16="http://schemas.microsoft.com/office/drawing/2014/main" id="{C885A78E-A99E-3516-3D7A-96C4BC9B388A}"/>
              </a:ext>
            </a:extLst>
          </p:cNvPr>
          <p:cNvSpPr>
            <a:spLocks noGrp="1" noChangeArrowheads="1"/>
          </p:cNvSpPr>
          <p:nvPr>
            <p:ph idx="1"/>
          </p:nvPr>
        </p:nvSpPr>
        <p:spPr bwMode="auto">
          <a:xfrm>
            <a:off x="1280160" y="1853549"/>
            <a:ext cx="5554980"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Arduino UNO  (main controller)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ESP8266 </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 Rain Drop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Soil Moisture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I2C LCD Display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Gyroscope MPU6050</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Buzzer</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A13F302-FD03-B381-7470-E44409F08D63}"/>
              </a:ext>
            </a:extLst>
          </p:cNvPr>
          <p:cNvSpPr txBox="1">
            <a:spLocks noChangeArrowheads="1"/>
          </p:cNvSpPr>
          <p:nvPr/>
        </p:nvSpPr>
        <p:spPr bwMode="auto">
          <a:xfrm>
            <a:off x="6096000" y="1853549"/>
            <a:ext cx="5554980"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Power Adapter</a:t>
            </a:r>
          </a:p>
          <a:p>
            <a:pPr mar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 Vibration Sensor</a:t>
            </a:r>
          </a:p>
          <a:p>
            <a:pPr marL="0" indent="0" eaLnBrk="0" fontAlgn="base" hangingPunct="0">
              <a:lnSpc>
                <a:spcPct val="150000"/>
              </a:lnSpc>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912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1874126-9852-18A2-F26A-DAA267583208}"/>
              </a:ext>
            </a:extLst>
          </p:cNvPr>
          <p:cNvSpPr/>
          <p:nvPr/>
        </p:nvSpPr>
        <p:spPr>
          <a:xfrm>
            <a:off x="1240513" y="1936955"/>
            <a:ext cx="1799303" cy="8126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Sensor Module</a:t>
            </a: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C8C0B54-0002-EC31-88A3-3C7D403CDFBE}"/>
              </a:ext>
            </a:extLst>
          </p:cNvPr>
          <p:cNvSpPr/>
          <p:nvPr/>
        </p:nvSpPr>
        <p:spPr>
          <a:xfrm>
            <a:off x="1240513" y="4179539"/>
            <a:ext cx="1762204" cy="7393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Arduino UNO</a:t>
            </a:r>
          </a:p>
        </p:txBody>
      </p:sp>
      <p:sp>
        <p:nvSpPr>
          <p:cNvPr id="6" name="Rectangle 5">
            <a:extLst>
              <a:ext uri="{FF2B5EF4-FFF2-40B4-BE49-F238E27FC236}">
                <a16:creationId xmlns:a16="http://schemas.microsoft.com/office/drawing/2014/main" id="{B25922EE-961F-0B3A-1FAE-F21057FE58BC}"/>
              </a:ext>
            </a:extLst>
          </p:cNvPr>
          <p:cNvSpPr/>
          <p:nvPr/>
        </p:nvSpPr>
        <p:spPr>
          <a:xfrm>
            <a:off x="4687307" y="4213272"/>
            <a:ext cx="2003348" cy="7505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Wifi</a:t>
            </a:r>
            <a:r>
              <a:rPr lang="en-IN" dirty="0"/>
              <a:t> Module</a:t>
            </a:r>
          </a:p>
        </p:txBody>
      </p:sp>
      <p:sp>
        <p:nvSpPr>
          <p:cNvPr id="7" name="Rectangle 6">
            <a:extLst>
              <a:ext uri="{FF2B5EF4-FFF2-40B4-BE49-F238E27FC236}">
                <a16:creationId xmlns:a16="http://schemas.microsoft.com/office/drawing/2014/main" id="{CABB98B4-86CC-1118-5D29-AF511AAAF30E}"/>
              </a:ext>
            </a:extLst>
          </p:cNvPr>
          <p:cNvSpPr/>
          <p:nvPr/>
        </p:nvSpPr>
        <p:spPr>
          <a:xfrm>
            <a:off x="8375245" y="4165159"/>
            <a:ext cx="2507225" cy="855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Cloud Monitoring</a:t>
            </a:r>
          </a:p>
        </p:txBody>
      </p:sp>
      <p:cxnSp>
        <p:nvCxnSpPr>
          <p:cNvPr id="9" name="Straight Arrow Connector 8">
            <a:extLst>
              <a:ext uri="{FF2B5EF4-FFF2-40B4-BE49-F238E27FC236}">
                <a16:creationId xmlns:a16="http://schemas.microsoft.com/office/drawing/2014/main" id="{C97690E5-88EA-5B37-9429-D489932665C0}"/>
              </a:ext>
            </a:extLst>
          </p:cNvPr>
          <p:cNvCxnSpPr>
            <a:cxnSpLocks/>
          </p:cNvCxnSpPr>
          <p:nvPr/>
        </p:nvCxnSpPr>
        <p:spPr>
          <a:xfrm>
            <a:off x="2081752" y="2959510"/>
            <a:ext cx="0" cy="9537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36F1E7F-38EF-25EF-61E7-93DB894D5DE9}"/>
              </a:ext>
            </a:extLst>
          </p:cNvPr>
          <p:cNvCxnSpPr>
            <a:cxnSpLocks/>
            <a:stCxn id="5" idx="3"/>
          </p:cNvCxnSpPr>
          <p:nvPr/>
        </p:nvCxnSpPr>
        <p:spPr>
          <a:xfrm flipV="1">
            <a:off x="3002717" y="4549215"/>
            <a:ext cx="168459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187CF9F-04FC-51CB-17D0-284936E6E08B}"/>
              </a:ext>
            </a:extLst>
          </p:cNvPr>
          <p:cNvCxnSpPr>
            <a:cxnSpLocks/>
            <a:stCxn id="6" idx="3"/>
            <a:endCxn id="7" idx="1"/>
          </p:cNvCxnSpPr>
          <p:nvPr/>
        </p:nvCxnSpPr>
        <p:spPr>
          <a:xfrm>
            <a:off x="6690655" y="4588550"/>
            <a:ext cx="1684590" cy="43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0E60B48-4AB7-90FC-82FC-FFAF38793AFF}"/>
              </a:ext>
            </a:extLst>
          </p:cNvPr>
          <p:cNvSpPr txBox="1"/>
          <p:nvPr/>
        </p:nvSpPr>
        <p:spPr>
          <a:xfrm>
            <a:off x="2220153" y="3066325"/>
            <a:ext cx="1798263" cy="646331"/>
          </a:xfrm>
          <a:prstGeom prst="rect">
            <a:avLst/>
          </a:prstGeom>
          <a:noFill/>
        </p:spPr>
        <p:txBody>
          <a:bodyPr wrap="square" rtlCol="0">
            <a:spAutoFit/>
          </a:bodyPr>
          <a:lstStyle/>
          <a:p>
            <a:r>
              <a:rPr lang="en-IN" dirty="0"/>
              <a:t>Sensing and</a:t>
            </a:r>
          </a:p>
          <a:p>
            <a:r>
              <a:rPr lang="en-IN" dirty="0"/>
              <a:t> Processing</a:t>
            </a:r>
          </a:p>
        </p:txBody>
      </p:sp>
      <p:sp>
        <p:nvSpPr>
          <p:cNvPr id="16" name="TextBox 15">
            <a:extLst>
              <a:ext uri="{FF2B5EF4-FFF2-40B4-BE49-F238E27FC236}">
                <a16:creationId xmlns:a16="http://schemas.microsoft.com/office/drawing/2014/main" id="{63BB096D-9359-1334-F842-8F9BD1D759D4}"/>
              </a:ext>
            </a:extLst>
          </p:cNvPr>
          <p:cNvSpPr txBox="1"/>
          <p:nvPr/>
        </p:nvSpPr>
        <p:spPr>
          <a:xfrm>
            <a:off x="1543395" y="5323129"/>
            <a:ext cx="1446546" cy="646331"/>
          </a:xfrm>
          <a:prstGeom prst="rect">
            <a:avLst/>
          </a:prstGeom>
          <a:noFill/>
        </p:spPr>
        <p:txBody>
          <a:bodyPr wrap="square" rtlCol="0">
            <a:spAutoFit/>
          </a:bodyPr>
          <a:lstStyle/>
          <a:p>
            <a:r>
              <a:rPr lang="en-IN" dirty="0"/>
              <a:t>Receives</a:t>
            </a:r>
          </a:p>
          <a:p>
            <a:r>
              <a:rPr lang="en-IN" dirty="0"/>
              <a:t>   Signal</a:t>
            </a:r>
          </a:p>
        </p:txBody>
      </p:sp>
      <p:sp>
        <p:nvSpPr>
          <p:cNvPr id="17" name="TextBox 16">
            <a:extLst>
              <a:ext uri="{FF2B5EF4-FFF2-40B4-BE49-F238E27FC236}">
                <a16:creationId xmlns:a16="http://schemas.microsoft.com/office/drawing/2014/main" id="{BA451E10-4625-C871-2DA6-48C33B3FEF15}"/>
              </a:ext>
            </a:extLst>
          </p:cNvPr>
          <p:cNvSpPr txBox="1"/>
          <p:nvPr/>
        </p:nvSpPr>
        <p:spPr>
          <a:xfrm>
            <a:off x="3274509" y="4588550"/>
            <a:ext cx="1150069" cy="369332"/>
          </a:xfrm>
          <a:prstGeom prst="rect">
            <a:avLst/>
          </a:prstGeom>
          <a:noFill/>
        </p:spPr>
        <p:txBody>
          <a:bodyPr wrap="square" rtlCol="0">
            <a:spAutoFit/>
          </a:bodyPr>
          <a:lstStyle/>
          <a:p>
            <a:r>
              <a:rPr lang="en-IN" dirty="0"/>
              <a:t>Transmit</a:t>
            </a:r>
          </a:p>
        </p:txBody>
      </p:sp>
      <p:sp>
        <p:nvSpPr>
          <p:cNvPr id="18" name="TextBox 17">
            <a:extLst>
              <a:ext uri="{FF2B5EF4-FFF2-40B4-BE49-F238E27FC236}">
                <a16:creationId xmlns:a16="http://schemas.microsoft.com/office/drawing/2014/main" id="{8BADC814-4360-E041-D732-D5F6994BC091}"/>
              </a:ext>
            </a:extLst>
          </p:cNvPr>
          <p:cNvSpPr txBox="1"/>
          <p:nvPr/>
        </p:nvSpPr>
        <p:spPr>
          <a:xfrm>
            <a:off x="4916938" y="5324481"/>
            <a:ext cx="1632838" cy="646331"/>
          </a:xfrm>
          <a:prstGeom prst="rect">
            <a:avLst/>
          </a:prstGeom>
          <a:noFill/>
        </p:spPr>
        <p:txBody>
          <a:bodyPr wrap="square" rtlCol="0">
            <a:spAutoFit/>
          </a:bodyPr>
          <a:lstStyle/>
          <a:p>
            <a:r>
              <a:rPr lang="en-IN" dirty="0"/>
              <a:t>Transmission</a:t>
            </a:r>
          </a:p>
          <a:p>
            <a:r>
              <a:rPr lang="en-IN" dirty="0"/>
              <a:t>    of data </a:t>
            </a:r>
          </a:p>
        </p:txBody>
      </p:sp>
      <p:sp>
        <p:nvSpPr>
          <p:cNvPr id="19" name="TextBox 18">
            <a:extLst>
              <a:ext uri="{FF2B5EF4-FFF2-40B4-BE49-F238E27FC236}">
                <a16:creationId xmlns:a16="http://schemas.microsoft.com/office/drawing/2014/main" id="{A254E1B5-275C-0CD4-7777-F272E0C17A85}"/>
              </a:ext>
            </a:extLst>
          </p:cNvPr>
          <p:cNvSpPr txBox="1"/>
          <p:nvPr/>
        </p:nvSpPr>
        <p:spPr>
          <a:xfrm>
            <a:off x="9200046" y="5323129"/>
            <a:ext cx="1301988" cy="646331"/>
          </a:xfrm>
          <a:prstGeom prst="rect">
            <a:avLst/>
          </a:prstGeom>
          <a:noFill/>
        </p:spPr>
        <p:txBody>
          <a:bodyPr wrap="square" rtlCol="0">
            <a:spAutoFit/>
          </a:bodyPr>
          <a:lstStyle/>
          <a:p>
            <a:r>
              <a:rPr lang="en-IN" dirty="0"/>
              <a:t>   Remote Monitoring</a:t>
            </a:r>
          </a:p>
        </p:txBody>
      </p:sp>
      <p:sp>
        <p:nvSpPr>
          <p:cNvPr id="27" name="TextBox 26">
            <a:extLst>
              <a:ext uri="{FF2B5EF4-FFF2-40B4-BE49-F238E27FC236}">
                <a16:creationId xmlns:a16="http://schemas.microsoft.com/office/drawing/2014/main" id="{9E6C0776-0711-0200-5694-F55CB75EDBD2}"/>
              </a:ext>
            </a:extLst>
          </p:cNvPr>
          <p:cNvSpPr txBox="1"/>
          <p:nvPr/>
        </p:nvSpPr>
        <p:spPr>
          <a:xfrm>
            <a:off x="3540186" y="564021"/>
            <a:ext cx="4932762" cy="769441"/>
          </a:xfrm>
          <a:prstGeom prst="rect">
            <a:avLst/>
          </a:prstGeom>
          <a:noFill/>
        </p:spPr>
        <p:txBody>
          <a:bodyPr wrap="none" rtlCol="0">
            <a:spAutoFit/>
          </a:bodyPr>
          <a:lstStyle/>
          <a:p>
            <a:pPr algn="ctr"/>
            <a:r>
              <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BLOCK DIAGRAM</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466AFCEE-3821-A85A-D9D2-C381CF4C8DE6}"/>
              </a:ext>
            </a:extLst>
          </p:cNvPr>
          <p:cNvSpPr/>
          <p:nvPr/>
        </p:nvSpPr>
        <p:spPr>
          <a:xfrm>
            <a:off x="8375244" y="2072440"/>
            <a:ext cx="2507225" cy="855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Alert Module</a:t>
            </a:r>
          </a:p>
        </p:txBody>
      </p:sp>
      <p:cxnSp>
        <p:nvCxnSpPr>
          <p:cNvPr id="21" name="Straight Arrow Connector 20">
            <a:extLst>
              <a:ext uri="{FF2B5EF4-FFF2-40B4-BE49-F238E27FC236}">
                <a16:creationId xmlns:a16="http://schemas.microsoft.com/office/drawing/2014/main" id="{3F1F292C-DE7B-119B-13DC-9E9AAD3B6AFD}"/>
              </a:ext>
            </a:extLst>
          </p:cNvPr>
          <p:cNvCxnSpPr>
            <a:cxnSpLocks/>
          </p:cNvCxnSpPr>
          <p:nvPr/>
        </p:nvCxnSpPr>
        <p:spPr>
          <a:xfrm flipV="1">
            <a:off x="9628857" y="3066325"/>
            <a:ext cx="0" cy="926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22EA76B-CE3C-B1C3-573D-43A20F7B3F0B}"/>
              </a:ext>
            </a:extLst>
          </p:cNvPr>
          <p:cNvSpPr txBox="1"/>
          <p:nvPr/>
        </p:nvSpPr>
        <p:spPr>
          <a:xfrm>
            <a:off x="9851040" y="3182802"/>
            <a:ext cx="1610056" cy="646331"/>
          </a:xfrm>
          <a:prstGeom prst="rect">
            <a:avLst/>
          </a:prstGeom>
          <a:noFill/>
        </p:spPr>
        <p:txBody>
          <a:bodyPr wrap="square" rtlCol="0">
            <a:spAutoFit/>
          </a:bodyPr>
          <a:lstStyle/>
          <a:p>
            <a:r>
              <a:rPr lang="en-IN" dirty="0"/>
              <a:t>Warning</a:t>
            </a:r>
          </a:p>
          <a:p>
            <a:r>
              <a:rPr lang="en-IN" dirty="0"/>
              <a:t> Output</a:t>
            </a:r>
          </a:p>
        </p:txBody>
      </p:sp>
    </p:spTree>
    <p:extLst>
      <p:ext uri="{BB962C8B-B14F-4D97-AF65-F5344CB8AC3E}">
        <p14:creationId xmlns:p14="http://schemas.microsoft.com/office/powerpoint/2010/main" val="1020830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509B-CA79-6E54-9E41-A3077E7928EC}"/>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1A3573A0-C98C-A101-EA50-543746FA04DE}"/>
              </a:ext>
            </a:extLst>
          </p:cNvPr>
          <p:cNvSpPr>
            <a:spLocks noGrp="1"/>
          </p:cNvSpPr>
          <p:nvPr>
            <p:ph idx="1"/>
          </p:nvPr>
        </p:nvSpPr>
        <p:spPr>
          <a:xfrm>
            <a:off x="838200" y="1690688"/>
            <a:ext cx="10515600" cy="4351338"/>
          </a:xfrm>
        </p:spPr>
        <p:txBody>
          <a:bodyPr>
            <a:noAutofit/>
          </a:bodyPr>
          <a:lstStyle/>
          <a:p>
            <a:pPr algn="just">
              <a:lnSpc>
                <a:spcPct val="150000"/>
              </a:lnSpc>
            </a:pPr>
            <a:r>
              <a:rPr lang="en-US" sz="2300" b="1" dirty="0">
                <a:latin typeface="Times New Roman" panose="02020603050405020304" pitchFamily="18" charset="0"/>
                <a:cs typeface="Times New Roman" panose="02020603050405020304" pitchFamily="18" charset="0"/>
              </a:rPr>
              <a:t>Sensors collect data:</a:t>
            </a:r>
            <a:r>
              <a:rPr lang="en-US" sz="2300" dirty="0">
                <a:latin typeface="Times New Roman" panose="02020603050405020304" pitchFamily="18" charset="0"/>
                <a:cs typeface="Times New Roman" panose="02020603050405020304" pitchFamily="18" charset="0"/>
              </a:rPr>
              <a:t> Tilt, vibration, soil moisture, and rainfall sensors continuously monitor the slope conditions.</a:t>
            </a:r>
          </a:p>
          <a:p>
            <a:pPr algn="just">
              <a:lnSpc>
                <a:spcPct val="150000"/>
              </a:lnSpc>
            </a:pPr>
            <a:r>
              <a:rPr lang="en-US" sz="2300" b="1" dirty="0">
                <a:latin typeface="Times New Roman" panose="02020603050405020304" pitchFamily="18" charset="0"/>
                <a:cs typeface="Times New Roman" panose="02020603050405020304" pitchFamily="18" charset="0"/>
              </a:rPr>
              <a:t>Arduino analyzes readings:</a:t>
            </a:r>
            <a:r>
              <a:rPr lang="en-US" sz="2300" dirty="0">
                <a:latin typeface="Times New Roman" panose="02020603050405020304" pitchFamily="18" charset="0"/>
                <a:cs typeface="Times New Roman" panose="02020603050405020304" pitchFamily="18" charset="0"/>
              </a:rPr>
              <a:t> The Arduino checks if any sensor values cross the preset danger limits.</a:t>
            </a:r>
          </a:p>
          <a:p>
            <a:pPr algn="just">
              <a:lnSpc>
                <a:spcPct val="150000"/>
              </a:lnSpc>
            </a:pPr>
            <a:r>
              <a:rPr lang="en-US" sz="2300" b="1" dirty="0">
                <a:latin typeface="Times New Roman" panose="02020603050405020304" pitchFamily="18" charset="0"/>
                <a:cs typeface="Times New Roman" panose="02020603050405020304" pitchFamily="18" charset="0"/>
              </a:rPr>
              <a:t>Alerts are triggered:</a:t>
            </a:r>
            <a:r>
              <a:rPr lang="en-US" sz="2300" dirty="0">
                <a:latin typeface="Times New Roman" panose="02020603050405020304" pitchFamily="18" charset="0"/>
                <a:cs typeface="Times New Roman" panose="02020603050405020304" pitchFamily="18" charset="0"/>
              </a:rPr>
              <a:t> If a risk is detected, the buzzer sounds and the I2C LCD shows a warning message.</a:t>
            </a:r>
          </a:p>
          <a:p>
            <a:pPr algn="just">
              <a:lnSpc>
                <a:spcPct val="150000"/>
              </a:lnSpc>
            </a:pPr>
            <a:r>
              <a:rPr lang="en-US" sz="2300" b="1" dirty="0">
                <a:latin typeface="Times New Roman" panose="02020603050405020304" pitchFamily="18" charset="0"/>
                <a:cs typeface="Times New Roman" panose="02020603050405020304" pitchFamily="18" charset="0"/>
              </a:rPr>
              <a:t>Data sent to cloud:</a:t>
            </a:r>
            <a:r>
              <a:rPr lang="en-US" sz="2300" dirty="0">
                <a:latin typeface="Times New Roman" panose="02020603050405020304" pitchFamily="18" charset="0"/>
                <a:cs typeface="Times New Roman" panose="02020603050405020304" pitchFamily="18" charset="0"/>
              </a:rPr>
              <a:t> The ESP8266 Wi-Fi module uploads sensor data online for remote monitoring and timely action.</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24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2">
            <a:extLst>
              <a:ext uri="{FF2B5EF4-FFF2-40B4-BE49-F238E27FC236}">
                <a16:creationId xmlns:a16="http://schemas.microsoft.com/office/drawing/2014/main" id="{81FA5985-706D-9D3A-EBD0-F34A67582D6A}"/>
              </a:ext>
            </a:extLst>
          </p:cNvPr>
          <p:cNvSpPr txBox="1"/>
          <p:nvPr/>
        </p:nvSpPr>
        <p:spPr>
          <a:xfrm>
            <a:off x="3112984" y="221349"/>
            <a:ext cx="5661230" cy="769441"/>
          </a:xfrm>
          <a:prstGeom prst="rect">
            <a:avLst/>
          </a:prstGeom>
          <a:noFill/>
        </p:spPr>
        <p:txBody>
          <a:bodyPr wrap="none" rtlCol="0">
            <a:spAutoFit/>
          </a:bodyPr>
          <a:lstStyle>
            <a:defPPr>
              <a:defRPr kern="0"/>
            </a:defPPr>
          </a:lstStyle>
          <a:p>
            <a:r>
              <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OVERVIEW</a:t>
            </a:r>
          </a:p>
        </p:txBody>
      </p:sp>
      <p:sp>
        <p:nvSpPr>
          <p:cNvPr id="2" name="AutoShape 2">
            <a:extLst>
              <a:ext uri="{FF2B5EF4-FFF2-40B4-BE49-F238E27FC236}">
                <a16:creationId xmlns:a16="http://schemas.microsoft.com/office/drawing/2014/main" id="{5F51E25D-1728-BF27-C981-EE046359C63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42F03663-6B95-AFF7-4685-73FD2E124EE5}"/>
              </a:ext>
            </a:extLst>
          </p:cNvPr>
          <p:cNvPicPr>
            <a:picLocks noChangeAspect="1"/>
          </p:cNvPicPr>
          <p:nvPr/>
        </p:nvPicPr>
        <p:blipFill>
          <a:blip r:embed="rId2"/>
          <a:stretch>
            <a:fillRect/>
          </a:stretch>
        </p:blipFill>
        <p:spPr>
          <a:xfrm rot="5400000">
            <a:off x="3361089" y="388621"/>
            <a:ext cx="5165021" cy="6858000"/>
          </a:xfrm>
          <a:prstGeom prst="rect">
            <a:avLst/>
          </a:prstGeom>
        </p:spPr>
      </p:pic>
    </p:spTree>
    <p:extLst>
      <p:ext uri="{BB962C8B-B14F-4D97-AF65-F5344CB8AC3E}">
        <p14:creationId xmlns:p14="http://schemas.microsoft.com/office/powerpoint/2010/main" val="40047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C1C9-489D-3F8B-64DC-49B991B7C4BA}"/>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5903DE82-3E60-DAA6-EE95-ACC309205CB0}"/>
              </a:ext>
            </a:extLst>
          </p:cNvPr>
          <p:cNvSpPr>
            <a:spLocks noGrp="1"/>
          </p:cNvSpPr>
          <p:nvPr>
            <p:ph idx="1"/>
          </p:nvPr>
        </p:nvSpPr>
        <p:spPr>
          <a:xfrm>
            <a:off x="457734" y="1690688"/>
            <a:ext cx="11276532" cy="4802186"/>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a:t>
            </a:r>
          </a:p>
        </p:txBody>
      </p:sp>
      <p:sp>
        <p:nvSpPr>
          <p:cNvPr id="9" name="Rectangle 5">
            <a:extLst>
              <a:ext uri="{FF2B5EF4-FFF2-40B4-BE49-F238E27FC236}">
                <a16:creationId xmlns:a16="http://schemas.microsoft.com/office/drawing/2014/main" id="{AB1B72CF-4276-6F04-7E65-0CE0E98E5CDE}"/>
              </a:ext>
            </a:extLst>
          </p:cNvPr>
          <p:cNvSpPr>
            <a:spLocks noChangeArrowheads="1"/>
          </p:cNvSpPr>
          <p:nvPr/>
        </p:nvSpPr>
        <p:spPr bwMode="auto">
          <a:xfrm>
            <a:off x="634548" y="1690688"/>
            <a:ext cx="105156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detection of landslide risks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timely preventive action.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of soil and environmental conditions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continuous safety.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access to data through IoT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enabling monitoring from anywhere.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and reliable alert notifications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during abnormal conditions.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and energy-efficient design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practical for long-term use.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overall disaster preparedness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potential damage and loss</a:t>
            </a:r>
          </a:p>
        </p:txBody>
      </p:sp>
    </p:spTree>
    <p:extLst>
      <p:ext uri="{BB962C8B-B14F-4D97-AF65-F5344CB8AC3E}">
        <p14:creationId xmlns:p14="http://schemas.microsoft.com/office/powerpoint/2010/main" val="19846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41F51-24F4-FF92-DE4C-FBCAA1F4206F}"/>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APPLICATIONS</a:t>
            </a:r>
          </a:p>
        </p:txBody>
      </p:sp>
      <p:sp>
        <p:nvSpPr>
          <p:cNvPr id="4" name="Rectangle 1">
            <a:extLst>
              <a:ext uri="{FF2B5EF4-FFF2-40B4-BE49-F238E27FC236}">
                <a16:creationId xmlns:a16="http://schemas.microsoft.com/office/drawing/2014/main" id="{B4ECFE30-CB8C-3A8F-D647-CD48B3C83F7C}"/>
              </a:ext>
            </a:extLst>
          </p:cNvPr>
          <p:cNvSpPr>
            <a:spLocks noGrp="1" noChangeArrowheads="1"/>
          </p:cNvSpPr>
          <p:nvPr>
            <p:ph idx="1"/>
          </p:nvPr>
        </p:nvSpPr>
        <p:spPr bwMode="auto">
          <a:xfrm>
            <a:off x="838200" y="1754022"/>
            <a:ext cx="7665881"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landslide-prone hill and mountain regions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Enhancing safety along highways and roadside slopes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Assessing ground stability at construction sites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soil movement in mining areas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slopes near railway tracks in hilly regions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Supporting disaster management teams with real-time alerts</a:t>
            </a:r>
          </a:p>
        </p:txBody>
      </p:sp>
    </p:spTree>
    <p:extLst>
      <p:ext uri="{BB962C8B-B14F-4D97-AF65-F5344CB8AC3E}">
        <p14:creationId xmlns:p14="http://schemas.microsoft.com/office/powerpoint/2010/main" val="1576389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A520-26C7-0F34-2777-D9BCFB2795D9}"/>
              </a:ext>
            </a:extLst>
          </p:cNvPr>
          <p:cNvSpPr>
            <a:spLocks noGrp="1"/>
          </p:cNvSpPr>
          <p:nvPr>
            <p:ph type="title"/>
          </p:nvPr>
        </p:nvSpPr>
        <p:spPr/>
        <p:txBody>
          <a:bodyPr/>
          <a:lstStyle/>
          <a:p>
            <a:pPr algn="ctr"/>
            <a:r>
              <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 OF THE PROJECT</a:t>
            </a:r>
            <a:endParaRPr lang="en-US" dirty="0"/>
          </a:p>
        </p:txBody>
      </p:sp>
      <p:sp>
        <p:nvSpPr>
          <p:cNvPr id="3" name="Content Placeholder 2">
            <a:extLst>
              <a:ext uri="{FF2B5EF4-FFF2-40B4-BE49-F238E27FC236}">
                <a16:creationId xmlns:a16="http://schemas.microsoft.com/office/drawing/2014/main" id="{EEC03417-78B9-E7CD-A6C4-905561549894}"/>
              </a:ext>
            </a:extLst>
          </p:cNvPr>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The system gives early landslide warnings through real-time sensing and alerts.</a:t>
            </a:r>
          </a:p>
          <a:p>
            <a:pPr>
              <a:lnSpc>
                <a:spcPct val="150000"/>
              </a:lnSpc>
            </a:pPr>
            <a:r>
              <a:rPr lang="en-US" dirty="0">
                <a:latin typeface="Times New Roman" panose="02020603050405020304" pitchFamily="18" charset="0"/>
                <a:cs typeface="Times New Roman" panose="02020603050405020304" pitchFamily="18" charset="0"/>
              </a:rPr>
              <a:t>It improves safety by enabling quick action and continuous monitoring.</a:t>
            </a:r>
          </a:p>
          <a:p>
            <a:pPr>
              <a:lnSpc>
                <a:spcPct val="150000"/>
              </a:lnSpc>
            </a:pPr>
            <a:r>
              <a:rPr lang="en-US" dirty="0">
                <a:latin typeface="Times New Roman" panose="02020603050405020304" pitchFamily="18" charset="0"/>
                <a:cs typeface="Times New Roman" panose="02020603050405020304" pitchFamily="18" charset="0"/>
              </a:rPr>
              <a:t>It supports remote monitoring for better disaster preparedness.</a:t>
            </a:r>
          </a:p>
        </p:txBody>
      </p:sp>
    </p:spTree>
    <p:extLst>
      <p:ext uri="{BB962C8B-B14F-4D97-AF65-F5344CB8AC3E}">
        <p14:creationId xmlns:p14="http://schemas.microsoft.com/office/powerpoint/2010/main" val="1438497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8025-98E8-6B47-30CC-BAEB5CEF462A}"/>
              </a:ext>
            </a:extLst>
          </p:cNvPr>
          <p:cNvSpPr>
            <a:spLocks noGrp="1"/>
          </p:cNvSpPr>
          <p:nvPr>
            <p:ph type="title"/>
          </p:nvPr>
        </p:nvSpPr>
        <p:spPr/>
        <p:txBody>
          <a:bodyPr/>
          <a:lstStyle/>
          <a:p>
            <a:pPr algn="ctr"/>
            <a:r>
              <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endParaRPr lang="en-US" dirty="0"/>
          </a:p>
        </p:txBody>
      </p:sp>
      <p:sp>
        <p:nvSpPr>
          <p:cNvPr id="3" name="Content Placeholder 2">
            <a:extLst>
              <a:ext uri="{FF2B5EF4-FFF2-40B4-BE49-F238E27FC236}">
                <a16:creationId xmlns:a16="http://schemas.microsoft.com/office/drawing/2014/main" id="{B8F983B2-C46D-0FDF-3374-C199C681257C}"/>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IoT-based landslide detection system effectively monitors ground movement, vibration, moisture, and rainfall to identify early signs of slope failure. By providing instant alerts and remote monitoring, it enhances safety, supports timely decision-making, and helps reduce the impact of landslides in vulnerable areas.</a:t>
            </a:r>
          </a:p>
        </p:txBody>
      </p:sp>
    </p:spTree>
    <p:extLst>
      <p:ext uri="{BB962C8B-B14F-4D97-AF65-F5344CB8AC3E}">
        <p14:creationId xmlns:p14="http://schemas.microsoft.com/office/powerpoint/2010/main" val="2396244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F1897-B322-BF66-D843-51348D7BEDAA}"/>
              </a:ext>
            </a:extLst>
          </p:cNvPr>
          <p:cNvSpPr>
            <a:spLocks noGrp="1"/>
          </p:cNvSpPr>
          <p:nvPr>
            <p:ph type="title"/>
          </p:nvPr>
        </p:nvSpPr>
        <p:spPr/>
        <p:txBody>
          <a:bodyPr>
            <a:normAutofit/>
          </a:bodyPr>
          <a:lstStyle/>
          <a:p>
            <a:pPr algn="ctr"/>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SCOPE</a:t>
            </a:r>
            <a:endParaRPr lang="en-US" dirty="0"/>
          </a:p>
        </p:txBody>
      </p:sp>
      <p:sp>
        <p:nvSpPr>
          <p:cNvPr id="3" name="Content Placeholder 2">
            <a:extLst>
              <a:ext uri="{FF2B5EF4-FFF2-40B4-BE49-F238E27FC236}">
                <a16:creationId xmlns:a16="http://schemas.microsoft.com/office/drawing/2014/main" id="{C3095842-DA49-90E4-6EB1-99FE68E7DC44}"/>
              </a:ext>
            </a:extLst>
          </p:cNvPr>
          <p:cNvSpPr>
            <a:spLocks noGrp="1"/>
          </p:cNvSpPr>
          <p:nvPr>
            <p:ph idx="1"/>
          </p:nvPr>
        </p:nvSpPr>
        <p:spPr/>
        <p:txBody>
          <a:bodyPr/>
          <a:lstStyle/>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Integration of advanced sensors for more accurate prediction</a:t>
            </a:r>
          </a:p>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Use of machine learning to improve landslide forecasting</a:t>
            </a:r>
          </a:p>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Solar-powered operation for usage in remote areas</a:t>
            </a:r>
          </a:p>
          <a:p>
            <a:pPr>
              <a:lnSpc>
                <a:spcPct val="150000"/>
              </a:lnSpc>
              <a:buFont typeface="+mj-lt"/>
              <a:buAutoNum type="arabicPeriod"/>
            </a:pPr>
            <a:r>
              <a:rPr lang="en-US" dirty="0">
                <a:latin typeface="Times New Roman" panose="02020603050405020304" pitchFamily="18" charset="0"/>
                <a:cs typeface="Times New Roman" panose="02020603050405020304" pitchFamily="18" charset="0"/>
              </a:rPr>
              <a:t>Mobile app and GIS mapping for better real-time alerts and visualization</a:t>
            </a:r>
          </a:p>
          <a:p>
            <a:pPr marL="0" indent="0">
              <a:buNone/>
            </a:pPr>
            <a:endParaRPr lang="en-US" dirty="0"/>
          </a:p>
        </p:txBody>
      </p:sp>
    </p:spTree>
    <p:extLst>
      <p:ext uri="{BB962C8B-B14F-4D97-AF65-F5344CB8AC3E}">
        <p14:creationId xmlns:p14="http://schemas.microsoft.com/office/powerpoint/2010/main" val="3535704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5A03-A691-2CC1-C4AA-88DA44531F5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F50D6F9-B66E-6FBA-FA9F-81A9AB214469}"/>
              </a:ext>
            </a:extLst>
          </p:cNvPr>
          <p:cNvSpPr>
            <a:spLocks noGrp="1"/>
          </p:cNvSpPr>
          <p:nvPr>
            <p:ph idx="1"/>
          </p:nvPr>
        </p:nvSpPr>
        <p:spPr>
          <a:xfrm>
            <a:off x="838200" y="2674937"/>
            <a:ext cx="10515600" cy="2174875"/>
          </a:xfrm>
        </p:spPr>
        <p:txBody>
          <a:bodyPr>
            <a:normAutofit/>
          </a:bodyPr>
          <a:lstStyle/>
          <a:p>
            <a:pPr marL="0" indent="0" algn="ctr">
              <a:buNone/>
            </a:pPr>
            <a:r>
              <a:rPr lang="en-IN" sz="9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US" sz="9600" dirty="0"/>
          </a:p>
        </p:txBody>
      </p:sp>
    </p:spTree>
    <p:extLst>
      <p:ext uri="{BB962C8B-B14F-4D97-AF65-F5344CB8AC3E}">
        <p14:creationId xmlns:p14="http://schemas.microsoft.com/office/powerpoint/2010/main" val="3526152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1144</TotalTime>
  <Words>579</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Department of Electrical and Electronics Engineering</vt:lpstr>
      <vt:lpstr>TITLE OF THE PROJECT</vt:lpstr>
      <vt:lpstr>           LIST OF CONTENTS </vt:lpstr>
      <vt:lpstr>INTRODUCTION</vt:lpstr>
      <vt:lpstr>COMPONENTS USED</vt:lpstr>
      <vt:lpstr>PowerPoint Presentation</vt:lpstr>
      <vt:lpstr>WORKING</vt:lpstr>
      <vt:lpstr>PowerPoint Presentation</vt:lpstr>
      <vt:lpstr>ADVANTAGES</vt:lpstr>
      <vt:lpstr>APPLICATIONS</vt:lpstr>
      <vt:lpstr>OUTCOME OF THE PROJECT</vt:lpstr>
      <vt:lpstr>CONCLUSION</vt:lpstr>
      <vt:lpstr>FUTURE SCOPE</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Electrical and Electronics Engineering</dc:title>
  <dc:creator>SIVAANI TR</dc:creator>
  <cp:lastModifiedBy>ACER 14 USER</cp:lastModifiedBy>
  <cp:revision>4</cp:revision>
  <dcterms:created xsi:type="dcterms:W3CDTF">2025-08-29T15:46:50Z</dcterms:created>
  <dcterms:modified xsi:type="dcterms:W3CDTF">2025-12-12T18:05:07Z</dcterms:modified>
</cp:coreProperties>
</file>